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notesMasterIdLst>
    <p:notesMasterId r:id="rId10"/>
  </p:notesMasterIdLst>
  <p:sldIdLst>
    <p:sldId id="265" r:id="rId2"/>
    <p:sldId id="262" r:id="rId3"/>
    <p:sldId id="264" r:id="rId4"/>
    <p:sldId id="267" r:id="rId5"/>
    <p:sldId id="263" r:id="rId6"/>
    <p:sldId id="260" r:id="rId7"/>
    <p:sldId id="259"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6931F1-569C-7AD6-FEC6-2BDA2005C13A}" v="373" dt="2025-05-04T18:45:05.7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DB714D-1B03-432D-AC3B-69801AAAEB6A}" type="datetimeFigureOut">
              <a:t>5/4/2025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0AB582-F24F-4877-B08B-14B67FD2957F}" type="slidenum">
              <a:t>‹#›</a:t>
            </a:fld>
            <a:endParaRPr lang="en-US"/>
          </a:p>
        </p:txBody>
      </p:sp>
    </p:spTree>
    <p:extLst>
      <p:ext uri="{BB962C8B-B14F-4D97-AF65-F5344CB8AC3E}">
        <p14:creationId xmlns:p14="http://schemas.microsoft.com/office/powerpoint/2010/main" val="493557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Hello everyone! This is Dev and today I am going to talk about Model Context Protocol. First of all, how many of you here have heard about Model Context Protocol?</a:t>
            </a:r>
          </a:p>
        </p:txBody>
      </p:sp>
      <p:sp>
        <p:nvSpPr>
          <p:cNvPr id="4" name="Slide Number Placeholder 3"/>
          <p:cNvSpPr>
            <a:spLocks noGrp="1"/>
          </p:cNvSpPr>
          <p:nvPr>
            <p:ph type="sldNum" sz="quarter" idx="5"/>
          </p:nvPr>
        </p:nvSpPr>
        <p:spPr/>
        <p:txBody>
          <a:bodyPr/>
          <a:lstStyle/>
          <a:p>
            <a:fld id="{CD0AB582-F24F-4877-B08B-14B67FD2957F}" type="slidenum">
              <a:t>1</a:t>
            </a:fld>
            <a:endParaRPr lang="en-US"/>
          </a:p>
        </p:txBody>
      </p:sp>
    </p:spTree>
    <p:extLst>
      <p:ext uri="{BB962C8B-B14F-4D97-AF65-F5344CB8AC3E}">
        <p14:creationId xmlns:p14="http://schemas.microsoft.com/office/powerpoint/2010/main" val="791849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Alright, let me first introduce myself.</a:t>
            </a:r>
          </a:p>
          <a:p>
            <a:endParaRPr lang="en-US" dirty="0">
              <a:ea typeface="Calibri"/>
              <a:cs typeface="Calibri"/>
            </a:endParaRPr>
          </a:p>
          <a:p>
            <a:r>
              <a:rPr lang="en-US" dirty="0">
                <a:ea typeface="Calibri"/>
                <a:cs typeface="Calibri"/>
              </a:rPr>
              <a:t>My name is Dev and I am a Full Stack Developer.</a:t>
            </a:r>
          </a:p>
          <a:p>
            <a:endParaRPr lang="en-US" dirty="0">
              <a:ea typeface="Calibri"/>
              <a:cs typeface="Calibri"/>
            </a:endParaRPr>
          </a:p>
          <a:p>
            <a:r>
              <a:rPr lang="en-US" dirty="0">
                <a:ea typeface="Calibri"/>
                <a:cs typeface="Calibri"/>
              </a:rPr>
              <a:t>I also write tech blogs, create tech videos on YouTube and actively learn and share things in the field of Generative AI.</a:t>
            </a:r>
          </a:p>
          <a:p>
            <a:endParaRPr lang="en-US" dirty="0">
              <a:ea typeface="Calibri"/>
              <a:cs typeface="Calibri"/>
            </a:endParaRPr>
          </a:p>
          <a:p>
            <a:r>
              <a:rPr lang="en-US" dirty="0">
                <a:ea typeface="Calibri"/>
                <a:cs typeface="Calibri"/>
              </a:rPr>
              <a:t>I go by this username on almost all the platforms. Hence, </a:t>
            </a:r>
            <a:r>
              <a:rPr lang="en-US" dirty="0" err="1">
                <a:ea typeface="Calibri"/>
                <a:cs typeface="Calibri"/>
              </a:rPr>
              <a:t>its</a:t>
            </a:r>
            <a:r>
              <a:rPr lang="en-US" dirty="0">
                <a:ea typeface="Calibri"/>
                <a:cs typeface="Calibri"/>
              </a:rPr>
              <a:t> easy to find me on any platform.</a:t>
            </a:r>
          </a:p>
        </p:txBody>
      </p:sp>
      <p:sp>
        <p:nvSpPr>
          <p:cNvPr id="4" name="Slide Number Placeholder 3"/>
          <p:cNvSpPr>
            <a:spLocks noGrp="1"/>
          </p:cNvSpPr>
          <p:nvPr>
            <p:ph type="sldNum" sz="quarter" idx="5"/>
          </p:nvPr>
        </p:nvSpPr>
        <p:spPr/>
        <p:txBody>
          <a:bodyPr/>
          <a:lstStyle/>
          <a:p>
            <a:fld id="{CD0AB582-F24F-4877-B08B-14B67FD2957F}" type="slidenum">
              <a:t>2</a:t>
            </a:fld>
            <a:endParaRPr lang="en-US"/>
          </a:p>
        </p:txBody>
      </p:sp>
    </p:spTree>
    <p:extLst>
      <p:ext uri="{BB962C8B-B14F-4D97-AF65-F5344CB8AC3E}">
        <p14:creationId xmlns:p14="http://schemas.microsoft.com/office/powerpoint/2010/main" val="2785092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So where did it come from?</a:t>
            </a:r>
          </a:p>
          <a:p>
            <a:endParaRPr lang="en-US" dirty="0">
              <a:ea typeface="Calibri"/>
              <a:cs typeface="Calibri"/>
            </a:endParaRPr>
          </a:p>
          <a:p>
            <a:r>
              <a:rPr lang="en-US" dirty="0">
                <a:ea typeface="Calibri"/>
                <a:cs typeface="Calibri"/>
              </a:rPr>
              <a:t>Before MCP, everyone was and is talking about Retrieval-Augment Generation, that is a technique in which you store your data first in Vector Database into chunks and then based on the user's prompt, you retrieve the most relevant chunks of data, augment it with the user's prompt and pass it to the LLM to generate the response.</a:t>
            </a:r>
          </a:p>
          <a:p>
            <a:endParaRPr lang="en-US" dirty="0">
              <a:ea typeface="Calibri"/>
              <a:cs typeface="Calibri"/>
            </a:endParaRPr>
          </a:p>
          <a:p>
            <a:r>
              <a:rPr lang="en-US" dirty="0">
                <a:ea typeface="Calibri"/>
                <a:cs typeface="Calibri"/>
              </a:rPr>
              <a:t>MCP is a similar concept but it goes one step further. MCP get the access to various sources of data in real time. Although traditional AI Agents like ChatGPT, can search for the content related to the user's query from the internet in real time, it </a:t>
            </a:r>
            <a:r>
              <a:rPr lang="en-US" dirty="0" err="1">
                <a:ea typeface="Calibri"/>
                <a:cs typeface="Calibri"/>
              </a:rPr>
              <a:t>wont</a:t>
            </a:r>
            <a:r>
              <a:rPr lang="en-US" dirty="0">
                <a:ea typeface="Calibri"/>
                <a:cs typeface="Calibri"/>
              </a:rPr>
              <a:t> be able to fetch the content from the place where your data lives. For example, if you ask ChatGPT, to help you summarize your last 3 commits on a specific GitHub Repository, it </a:t>
            </a:r>
            <a:r>
              <a:rPr lang="en-US" dirty="0" err="1">
                <a:ea typeface="Calibri"/>
                <a:cs typeface="Calibri"/>
              </a:rPr>
              <a:t>wont</a:t>
            </a:r>
            <a:r>
              <a:rPr lang="en-US" dirty="0">
                <a:ea typeface="Calibri"/>
                <a:cs typeface="Calibri"/>
              </a:rPr>
              <a:t> be able to serve you as it does not have access to your GitHub account or repository.</a:t>
            </a:r>
          </a:p>
          <a:p>
            <a:endParaRPr lang="en-US" dirty="0">
              <a:ea typeface="Calibri"/>
              <a:cs typeface="Calibri"/>
            </a:endParaRPr>
          </a:p>
          <a:p>
            <a:r>
              <a:rPr lang="en-US" dirty="0">
                <a:ea typeface="Calibri"/>
                <a:cs typeface="Calibri"/>
              </a:rPr>
              <a:t>However, it is completely possible to build such functionality without using MCP, but MCP standardize this logic because of which makes it easy to plug and play with various MCP server through various AI Agents and even build your custom MCP server that can work with existing AI agents.</a:t>
            </a:r>
          </a:p>
        </p:txBody>
      </p:sp>
      <p:sp>
        <p:nvSpPr>
          <p:cNvPr id="4" name="Slide Number Placeholder 3"/>
          <p:cNvSpPr>
            <a:spLocks noGrp="1"/>
          </p:cNvSpPr>
          <p:nvPr>
            <p:ph type="sldNum" sz="quarter" idx="5"/>
          </p:nvPr>
        </p:nvSpPr>
        <p:spPr/>
        <p:txBody>
          <a:bodyPr/>
          <a:lstStyle/>
          <a:p>
            <a:fld id="{CD0AB582-F24F-4877-B08B-14B67FD2957F}" type="slidenum">
              <a:t>3</a:t>
            </a:fld>
            <a:endParaRPr lang="en-US"/>
          </a:p>
        </p:txBody>
      </p:sp>
    </p:spTree>
    <p:extLst>
      <p:ext uri="{BB962C8B-B14F-4D97-AF65-F5344CB8AC3E}">
        <p14:creationId xmlns:p14="http://schemas.microsoft.com/office/powerpoint/2010/main" val="2168419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1F1AA-84DD-2BDE-184A-9D8FC3AAF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EAEAF-33F2-EA7E-59D1-A701752A8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932FD-5253-063B-E072-C92CB0F2A9C3}"/>
              </a:ext>
            </a:extLst>
          </p:cNvPr>
          <p:cNvSpPr>
            <a:spLocks noGrp="1"/>
          </p:cNvSpPr>
          <p:nvPr>
            <p:ph type="body" idx="1"/>
          </p:nvPr>
        </p:nvSpPr>
        <p:spPr/>
        <p:txBody>
          <a:bodyPr/>
          <a:lstStyle/>
          <a:p>
            <a:r>
              <a:rPr lang="en-US" dirty="0">
                <a:ea typeface="Calibri"/>
                <a:cs typeface="Calibri"/>
              </a:rPr>
              <a:t>Alright. Now, </a:t>
            </a:r>
            <a:r>
              <a:rPr lang="en-US" dirty="0" err="1">
                <a:ea typeface="Calibri"/>
                <a:cs typeface="Calibri"/>
              </a:rPr>
              <a:t>lets</a:t>
            </a:r>
            <a:r>
              <a:rPr lang="en-US" dirty="0">
                <a:ea typeface="Calibri"/>
                <a:cs typeface="Calibri"/>
              </a:rPr>
              <a:t> start with first understand the basic architecture of Model Context Protocol before delving deep into the workflow.</a:t>
            </a:r>
          </a:p>
          <a:p>
            <a:endParaRPr lang="en-US" dirty="0">
              <a:ea typeface="Calibri"/>
              <a:cs typeface="Calibri"/>
            </a:endParaRPr>
          </a:p>
          <a:p>
            <a:r>
              <a:rPr lang="en-US" dirty="0">
                <a:ea typeface="Calibri"/>
                <a:cs typeface="Calibri"/>
              </a:rPr>
              <a:t>Overall, MCP consists of these three components: one is MCP Hosts, the other is MCP Client and the third one is MCP server.</a:t>
            </a:r>
          </a:p>
          <a:p>
            <a:endParaRPr lang="en-US" dirty="0">
              <a:ea typeface="Calibri"/>
              <a:cs typeface="Calibri"/>
            </a:endParaRPr>
          </a:p>
          <a:p>
            <a:r>
              <a:rPr lang="en-US" dirty="0" err="1">
                <a:ea typeface="Calibri"/>
                <a:cs typeface="Calibri"/>
              </a:rPr>
              <a:t>Lets</a:t>
            </a:r>
            <a:r>
              <a:rPr lang="en-US" dirty="0">
                <a:ea typeface="Calibri"/>
                <a:cs typeface="Calibri"/>
              </a:rPr>
              <a:t> </a:t>
            </a:r>
            <a:r>
              <a:rPr lang="en-US" dirty="0" err="1">
                <a:ea typeface="Calibri"/>
                <a:cs typeface="Calibri"/>
              </a:rPr>
              <a:t>disucss</a:t>
            </a:r>
            <a:r>
              <a:rPr lang="en-US" dirty="0">
                <a:ea typeface="Calibri"/>
                <a:cs typeface="Calibri"/>
              </a:rPr>
              <a:t> these components one by one.</a:t>
            </a:r>
          </a:p>
          <a:p>
            <a:endParaRPr lang="en-US" dirty="0">
              <a:ea typeface="Calibri"/>
              <a:cs typeface="Calibri"/>
            </a:endParaRPr>
          </a:p>
          <a:p>
            <a:r>
              <a:rPr lang="en-US" dirty="0">
                <a:ea typeface="Calibri"/>
                <a:cs typeface="Calibri"/>
              </a:rPr>
              <a:t>MCP Hosts is the AI Agent like a chatbot or copilot that directly interacts with the user.</a:t>
            </a:r>
          </a:p>
          <a:p>
            <a:endParaRPr lang="en-US" dirty="0">
              <a:ea typeface="Calibri"/>
              <a:cs typeface="Calibri"/>
            </a:endParaRPr>
          </a:p>
          <a:p>
            <a:r>
              <a:rPr lang="en-US" dirty="0">
                <a:ea typeface="Calibri"/>
                <a:cs typeface="Calibri"/>
              </a:rPr>
              <a:t>MCP Client maintains a 1 to 1 relationship with one or more MCP servers. MCP Client is the components that does most of the work in MCP workflow.</a:t>
            </a:r>
          </a:p>
          <a:p>
            <a:endParaRPr lang="en-US" dirty="0">
              <a:ea typeface="Calibri"/>
              <a:cs typeface="Calibri"/>
            </a:endParaRPr>
          </a:p>
          <a:p>
            <a:r>
              <a:rPr lang="en-US" dirty="0">
                <a:ea typeface="Calibri"/>
                <a:cs typeface="Calibri"/>
              </a:rPr>
              <a:t>Lastly, there are MCP Servers. MCP Server consists of the list of tools which provide a variety of data. In simple words, tools are functions that can be called by the MCP client to fetch the data as required by the user query.</a:t>
            </a:r>
          </a:p>
          <a:p>
            <a:endParaRPr lang="en-US" dirty="0">
              <a:ea typeface="Calibri"/>
              <a:cs typeface="Calibri"/>
            </a:endParaRPr>
          </a:p>
          <a:p>
            <a:r>
              <a:rPr lang="en-US" dirty="0">
                <a:ea typeface="Calibri"/>
                <a:cs typeface="Calibri"/>
              </a:rPr>
              <a:t>These tools listed in MCP can be connected with the database, remote service through APIs or run some code or script.</a:t>
            </a:r>
          </a:p>
          <a:p>
            <a:endParaRPr lang="en-US" dirty="0">
              <a:ea typeface="Calibri"/>
              <a:cs typeface="Calibri"/>
            </a:endParaRPr>
          </a:p>
          <a:p>
            <a:r>
              <a:rPr lang="en-US" dirty="0">
                <a:ea typeface="Calibri"/>
                <a:cs typeface="Calibri"/>
              </a:rPr>
              <a:t>This is the basic architecture of the MCP</a:t>
            </a:r>
          </a:p>
        </p:txBody>
      </p:sp>
      <p:sp>
        <p:nvSpPr>
          <p:cNvPr id="4" name="Slide Number Placeholder 3">
            <a:extLst>
              <a:ext uri="{FF2B5EF4-FFF2-40B4-BE49-F238E27FC236}">
                <a16:creationId xmlns:a16="http://schemas.microsoft.com/office/drawing/2014/main" id="{A7B67F6E-BA7A-C083-78C9-356516C92047}"/>
              </a:ext>
            </a:extLst>
          </p:cNvPr>
          <p:cNvSpPr>
            <a:spLocks noGrp="1"/>
          </p:cNvSpPr>
          <p:nvPr>
            <p:ph type="sldNum" sz="quarter" idx="5"/>
          </p:nvPr>
        </p:nvSpPr>
        <p:spPr/>
        <p:txBody>
          <a:bodyPr/>
          <a:lstStyle/>
          <a:p>
            <a:fld id="{CD0AB582-F24F-4877-B08B-14B67FD2957F}" type="slidenum">
              <a:t>4</a:t>
            </a:fld>
            <a:endParaRPr lang="en-US"/>
          </a:p>
        </p:txBody>
      </p:sp>
    </p:spTree>
    <p:extLst>
      <p:ext uri="{BB962C8B-B14F-4D97-AF65-F5344CB8AC3E}">
        <p14:creationId xmlns:p14="http://schemas.microsoft.com/office/powerpoint/2010/main" val="1116642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Moving forward to the MCP workflow.</a:t>
            </a:r>
          </a:p>
          <a:p>
            <a:endParaRPr lang="en-US" dirty="0">
              <a:ea typeface="Calibri"/>
              <a:cs typeface="Calibri"/>
            </a:endParaRPr>
          </a:p>
          <a:p>
            <a:r>
              <a:rPr lang="en-US" dirty="0">
                <a:ea typeface="Calibri"/>
                <a:cs typeface="Calibri"/>
              </a:rPr>
              <a:t>First, the user writes some prompt in a chatbot. Assuming the prompt is "Create a new </a:t>
            </a:r>
            <a:r>
              <a:rPr lang="en-US" dirty="0" err="1">
                <a:ea typeface="Calibri"/>
                <a:cs typeface="Calibri"/>
              </a:rPr>
              <a:t>github</a:t>
            </a:r>
            <a:r>
              <a:rPr lang="en-US" dirty="0">
                <a:ea typeface="Calibri"/>
                <a:cs typeface="Calibri"/>
              </a:rPr>
              <a:t> repo with the name '</a:t>
            </a:r>
            <a:r>
              <a:rPr lang="en-US" dirty="0" err="1">
                <a:ea typeface="Calibri"/>
                <a:cs typeface="Calibri"/>
              </a:rPr>
              <a:t>Code_Boilerplate</a:t>
            </a:r>
            <a:r>
              <a:rPr lang="en-US" dirty="0">
                <a:ea typeface="Calibri"/>
                <a:cs typeface="Calibri"/>
              </a:rPr>
              <a:t>'".</a:t>
            </a:r>
          </a:p>
          <a:p>
            <a:endParaRPr lang="en-US" dirty="0">
              <a:ea typeface="Calibri"/>
              <a:cs typeface="Calibri"/>
            </a:endParaRPr>
          </a:p>
          <a:p>
            <a:r>
              <a:rPr lang="en-US" dirty="0">
                <a:ea typeface="Calibri"/>
                <a:cs typeface="Calibri"/>
              </a:rPr>
              <a:t>This prompt is received by the MCP Host which is further </a:t>
            </a:r>
            <a:r>
              <a:rPr lang="en-US" dirty="0" err="1">
                <a:ea typeface="Calibri"/>
                <a:cs typeface="Calibri"/>
              </a:rPr>
              <a:t>handeled</a:t>
            </a:r>
            <a:r>
              <a:rPr lang="en-US" dirty="0">
                <a:ea typeface="Calibri"/>
                <a:cs typeface="Calibri"/>
              </a:rPr>
              <a:t> by the MCP Client. The MCP client first calls the MCP server that serves the requests related to GitHub and asks the send the list of all the tools available. The MCP server in return passes the list of tools available to the MCP Client.</a:t>
            </a:r>
          </a:p>
          <a:p>
            <a:endParaRPr lang="en-US" dirty="0">
              <a:ea typeface="Calibri"/>
              <a:cs typeface="Calibri"/>
            </a:endParaRPr>
          </a:p>
          <a:p>
            <a:r>
              <a:rPr lang="en-US" dirty="0">
                <a:ea typeface="Calibri"/>
                <a:cs typeface="Calibri"/>
              </a:rPr>
              <a:t>In the next step, the MCP Client passes the prompt along with the list of tools to the LLM and asks if there is any specific tool/s to be used to answer the prompt. As a response, the LLM returns the tool/s to be executed to get the relevant data to answer the prompt.</a:t>
            </a:r>
          </a:p>
          <a:p>
            <a:endParaRPr lang="en-US" dirty="0">
              <a:ea typeface="Calibri"/>
              <a:cs typeface="Calibri"/>
            </a:endParaRPr>
          </a:p>
          <a:p>
            <a:r>
              <a:rPr lang="en-US" dirty="0">
                <a:ea typeface="Calibri"/>
                <a:cs typeface="Calibri"/>
              </a:rPr>
              <a:t>Now, the MCP client passes the tool/s to be executed to the MCP server. The MCP server then runs the tools and gets the required data. This data is then passed to the MCP client.</a:t>
            </a:r>
          </a:p>
          <a:p>
            <a:endParaRPr lang="en-US" dirty="0">
              <a:ea typeface="Calibri"/>
              <a:cs typeface="Calibri"/>
            </a:endParaRPr>
          </a:p>
          <a:p>
            <a:r>
              <a:rPr lang="en-US" dirty="0">
                <a:ea typeface="Calibri"/>
                <a:cs typeface="Calibri"/>
              </a:rPr>
              <a:t>The MCP client finally sends the relevant data received along with the prompt to the LLM and now the LLM generates the response based on the data and returns it to the MCP Client.</a:t>
            </a:r>
          </a:p>
          <a:p>
            <a:endParaRPr lang="en-US" dirty="0">
              <a:ea typeface="Calibri"/>
              <a:cs typeface="Calibri"/>
            </a:endParaRPr>
          </a:p>
          <a:p>
            <a:r>
              <a:rPr lang="en-US" dirty="0">
                <a:ea typeface="Calibri"/>
                <a:cs typeface="Calibri"/>
              </a:rPr>
              <a:t>Last but not the least, the MCP Client sends this response to the User through the MCP Host.</a:t>
            </a:r>
          </a:p>
          <a:p>
            <a:endParaRPr lang="en-US" dirty="0">
              <a:ea typeface="Calibri"/>
              <a:cs typeface="Calibri"/>
            </a:endParaRPr>
          </a:p>
          <a:p>
            <a:r>
              <a:rPr lang="en-US" dirty="0">
                <a:ea typeface="Calibri"/>
                <a:cs typeface="Calibri"/>
              </a:rPr>
              <a:t>This is the whole workflow of how MCP works.</a:t>
            </a:r>
          </a:p>
          <a:p>
            <a:endParaRPr lang="en-US" dirty="0">
              <a:ea typeface="Calibri"/>
              <a:cs typeface="Calibri"/>
            </a:endParaRPr>
          </a:p>
          <a:p>
            <a:r>
              <a:rPr lang="en-US" dirty="0">
                <a:ea typeface="Calibri"/>
                <a:cs typeface="Calibri"/>
              </a:rPr>
              <a:t>Here one thing to understand is that the MCP server's tools are not only used to fetch the information, it can also be used to do some operations, like creating some resource using the information from the user's query.</a:t>
            </a:r>
          </a:p>
          <a:p>
            <a:endParaRPr lang="en-US" dirty="0">
              <a:ea typeface="Calibri"/>
              <a:cs typeface="Calibri"/>
            </a:endParaRPr>
          </a:p>
          <a:p>
            <a:r>
              <a:rPr lang="en-US" dirty="0">
                <a:ea typeface="Calibri"/>
                <a:cs typeface="Calibri"/>
              </a:rPr>
              <a:t>You will understand it more clearly, once you see the code.</a:t>
            </a:r>
          </a:p>
        </p:txBody>
      </p:sp>
      <p:sp>
        <p:nvSpPr>
          <p:cNvPr id="4" name="Slide Number Placeholder 3"/>
          <p:cNvSpPr>
            <a:spLocks noGrp="1"/>
          </p:cNvSpPr>
          <p:nvPr>
            <p:ph type="sldNum" sz="quarter" idx="5"/>
          </p:nvPr>
        </p:nvSpPr>
        <p:spPr/>
        <p:txBody>
          <a:bodyPr/>
          <a:lstStyle/>
          <a:p>
            <a:fld id="{CD0AB582-F24F-4877-B08B-14B67FD2957F}" type="slidenum">
              <a:rPr lang="en-US"/>
              <a:t>5</a:t>
            </a:fld>
            <a:endParaRPr lang="en-US"/>
          </a:p>
        </p:txBody>
      </p:sp>
    </p:spTree>
    <p:extLst>
      <p:ext uri="{BB962C8B-B14F-4D97-AF65-F5344CB8AC3E}">
        <p14:creationId xmlns:p14="http://schemas.microsoft.com/office/powerpoint/2010/main" val="3205967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Time to get hands on.</a:t>
            </a:r>
          </a:p>
        </p:txBody>
      </p:sp>
      <p:sp>
        <p:nvSpPr>
          <p:cNvPr id="4" name="Slide Number Placeholder 3"/>
          <p:cNvSpPr>
            <a:spLocks noGrp="1"/>
          </p:cNvSpPr>
          <p:nvPr>
            <p:ph type="sldNum" sz="quarter" idx="5"/>
          </p:nvPr>
        </p:nvSpPr>
        <p:spPr/>
        <p:txBody>
          <a:bodyPr/>
          <a:lstStyle/>
          <a:p>
            <a:fld id="{CD0AB582-F24F-4877-B08B-14B67FD2957F}" type="slidenum">
              <a:rPr lang="en-US"/>
              <a:t>6</a:t>
            </a:fld>
            <a:endParaRPr lang="en-US"/>
          </a:p>
        </p:txBody>
      </p:sp>
    </p:spTree>
    <p:extLst>
      <p:ext uri="{BB962C8B-B14F-4D97-AF65-F5344CB8AC3E}">
        <p14:creationId xmlns:p14="http://schemas.microsoft.com/office/powerpoint/2010/main" val="3590761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A large number of companies are adapting this protocol; hence they are publishing their own MCP server, just like SDKs and APIs. Moreover, AI Agents like copilot are providing the facilities to integrate your own, custom MCP server.</a:t>
            </a:r>
            <a:endParaRPr lang="en-US" dirty="0"/>
          </a:p>
        </p:txBody>
      </p:sp>
      <p:sp>
        <p:nvSpPr>
          <p:cNvPr id="4" name="Slide Number Placeholder 3"/>
          <p:cNvSpPr>
            <a:spLocks noGrp="1"/>
          </p:cNvSpPr>
          <p:nvPr>
            <p:ph type="sldNum" sz="quarter" idx="5"/>
          </p:nvPr>
        </p:nvSpPr>
        <p:spPr/>
        <p:txBody>
          <a:bodyPr/>
          <a:lstStyle/>
          <a:p>
            <a:fld id="{CD0AB582-F24F-4877-B08B-14B67FD2957F}" type="slidenum">
              <a:rPr lang="en-US"/>
              <a:t>7</a:t>
            </a:fld>
            <a:endParaRPr lang="en-US"/>
          </a:p>
        </p:txBody>
      </p:sp>
    </p:spTree>
    <p:extLst>
      <p:ext uri="{BB962C8B-B14F-4D97-AF65-F5344CB8AC3E}">
        <p14:creationId xmlns:p14="http://schemas.microsoft.com/office/powerpoint/2010/main" val="764827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Thank you for attending this session.</a:t>
            </a:r>
          </a:p>
          <a:p>
            <a:endParaRPr lang="en-US" dirty="0">
              <a:ea typeface="Calibri"/>
              <a:cs typeface="Calibri"/>
            </a:endParaRPr>
          </a:p>
          <a:p>
            <a:r>
              <a:rPr lang="en-US" dirty="0">
                <a:ea typeface="Calibri"/>
                <a:cs typeface="Calibri"/>
              </a:rPr>
              <a:t>Scan this QR Code to connect with me on LinkedIn and let me know if you have any questions.</a:t>
            </a:r>
          </a:p>
        </p:txBody>
      </p:sp>
      <p:sp>
        <p:nvSpPr>
          <p:cNvPr id="4" name="Slide Number Placeholder 3"/>
          <p:cNvSpPr>
            <a:spLocks noGrp="1"/>
          </p:cNvSpPr>
          <p:nvPr>
            <p:ph type="sldNum" sz="quarter" idx="5"/>
          </p:nvPr>
        </p:nvSpPr>
        <p:spPr/>
        <p:txBody>
          <a:bodyPr/>
          <a:lstStyle/>
          <a:p>
            <a:fld id="{CD0AB582-F24F-4877-B08B-14B67FD2957F}" type="slidenum">
              <a:rPr lang="en-US"/>
              <a:t>8</a:t>
            </a:fld>
            <a:endParaRPr lang="en-US"/>
          </a:p>
        </p:txBody>
      </p:sp>
    </p:spTree>
    <p:extLst>
      <p:ext uri="{BB962C8B-B14F-4D97-AF65-F5344CB8AC3E}">
        <p14:creationId xmlns:p14="http://schemas.microsoft.com/office/powerpoint/2010/main" val="1034977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5/4/2025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54711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5/4/2025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3377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5/4/2025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36512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5/4/2025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05946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5/4/2025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96572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5/4/2025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2296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5/4/2025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26909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5/4/2025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36961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5/4/2025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52845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5/4/2025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41273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5/4/2025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22197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5/4/2025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674898595"/>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14" r:id="rId6"/>
    <p:sldLayoutId id="2147483710" r:id="rId7"/>
    <p:sldLayoutId id="2147483711" r:id="rId8"/>
    <p:sldLayoutId id="2147483712" r:id="rId9"/>
    <p:sldLayoutId id="2147483713" r:id="rId10"/>
    <p:sldLayoutId id="2147483715"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8B12E9E-0882-B45B-2DE2-471784891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27A72D-FAC7-8186-6A78-2C07BDA6D9A9}"/>
              </a:ext>
            </a:extLst>
          </p:cNvPr>
          <p:cNvSpPr>
            <a:spLocks noGrp="1"/>
          </p:cNvSpPr>
          <p:nvPr>
            <p:ph type="ctrTitle"/>
          </p:nvPr>
        </p:nvSpPr>
        <p:spPr>
          <a:xfrm>
            <a:off x="614260" y="1986644"/>
            <a:ext cx="6744173" cy="2104220"/>
          </a:xfrm>
        </p:spPr>
        <p:txBody>
          <a:bodyPr vert="horz" lIns="91440" tIns="45720" rIns="91440" bIns="45720" rtlCol="0" anchor="ctr">
            <a:normAutofit/>
          </a:bodyPr>
          <a:lstStyle/>
          <a:p>
            <a:pPr algn="l"/>
            <a:r>
              <a:rPr lang="en-US" sz="7200"/>
              <a:t>Model Context Protocol</a:t>
            </a:r>
          </a:p>
        </p:txBody>
      </p:sp>
      <p:sp>
        <p:nvSpPr>
          <p:cNvPr id="3" name="Subtitle 2">
            <a:extLst>
              <a:ext uri="{FF2B5EF4-FFF2-40B4-BE49-F238E27FC236}">
                <a16:creationId xmlns:a16="http://schemas.microsoft.com/office/drawing/2014/main" id="{8FEC85C7-8AFF-5FC9-2BF4-2C6299603C95}"/>
              </a:ext>
            </a:extLst>
          </p:cNvPr>
          <p:cNvSpPr>
            <a:spLocks noGrp="1"/>
          </p:cNvSpPr>
          <p:nvPr>
            <p:ph type="subTitle" idx="1"/>
          </p:nvPr>
        </p:nvSpPr>
        <p:spPr>
          <a:xfrm>
            <a:off x="653754" y="3959321"/>
            <a:ext cx="2440422" cy="459230"/>
          </a:xfrm>
        </p:spPr>
        <p:txBody>
          <a:bodyPr vert="horz" lIns="91440" tIns="45720" rIns="91440" bIns="45720" rtlCol="0" anchor="ctr">
            <a:noAutofit/>
          </a:bodyPr>
          <a:lstStyle/>
          <a:p>
            <a:pPr algn="l"/>
            <a:r>
              <a:rPr lang="en-US" sz="2500" dirty="0"/>
              <a:t>By Dev J. Shah</a:t>
            </a:r>
          </a:p>
        </p:txBody>
      </p:sp>
    </p:spTree>
    <p:extLst>
      <p:ext uri="{BB962C8B-B14F-4D97-AF65-F5344CB8AC3E}">
        <p14:creationId xmlns:p14="http://schemas.microsoft.com/office/powerpoint/2010/main" val="1008765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44190-E1FA-402C-AC0A-19489981AA7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09A6FB4-8513-DC07-FD0A-51ADE4800ABC}"/>
              </a:ext>
            </a:extLst>
          </p:cNvPr>
          <p:cNvSpPr txBox="1"/>
          <p:nvPr/>
        </p:nvSpPr>
        <p:spPr>
          <a:xfrm>
            <a:off x="559845" y="1208765"/>
            <a:ext cx="402379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5000" b="1" dirty="0"/>
              <a:t>Introduction</a:t>
            </a:r>
            <a:endParaRPr lang="en-US" b="1"/>
          </a:p>
        </p:txBody>
      </p:sp>
      <p:sp>
        <p:nvSpPr>
          <p:cNvPr id="10" name="TextBox 9">
            <a:extLst>
              <a:ext uri="{FF2B5EF4-FFF2-40B4-BE49-F238E27FC236}">
                <a16:creationId xmlns:a16="http://schemas.microsoft.com/office/drawing/2014/main" id="{D003332A-43C0-3F9D-9736-14C40A352836}"/>
              </a:ext>
            </a:extLst>
          </p:cNvPr>
          <p:cNvSpPr txBox="1"/>
          <p:nvPr/>
        </p:nvSpPr>
        <p:spPr>
          <a:xfrm>
            <a:off x="567644" y="2351655"/>
            <a:ext cx="6505527" cy="27853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dirty="0"/>
              <a:t>Name: Dev J. Shah</a:t>
            </a:r>
          </a:p>
          <a:p>
            <a:r>
              <a:rPr lang="en-US" sz="2500" dirty="0"/>
              <a:t>Full Stack Developer, AI Evangelist</a:t>
            </a:r>
          </a:p>
          <a:p>
            <a:r>
              <a:rPr lang="en-US" sz="2500" dirty="0"/>
              <a:t>Blogger | YouTuber | </a:t>
            </a:r>
            <a:r>
              <a:rPr lang="en-US" sz="2500" dirty="0" err="1"/>
              <a:t>GenAI</a:t>
            </a:r>
            <a:r>
              <a:rPr lang="en-US" sz="2500" dirty="0"/>
              <a:t> Enthusiast</a:t>
            </a:r>
          </a:p>
          <a:p>
            <a:r>
              <a:rPr lang="en-US" sz="2500" dirty="0"/>
              <a:t>Username: </a:t>
            </a:r>
            <a:r>
              <a:rPr lang="en-US" sz="2500" err="1"/>
              <a:t>busycaesar</a:t>
            </a:r>
            <a:endParaRPr lang="en-US" sz="2500"/>
          </a:p>
          <a:p>
            <a:r>
              <a:rPr lang="en-US" sz="2500" dirty="0">
                <a:ea typeface="+mn-lt"/>
                <a:cs typeface="+mn-lt"/>
              </a:rPr>
              <a:t>I create content to help developers explore Generative AI concepts and bring AI into real-world applications.</a:t>
            </a:r>
            <a:endParaRPr lang="en-US" sz="2500" dirty="0"/>
          </a:p>
        </p:txBody>
      </p:sp>
      <p:pic>
        <p:nvPicPr>
          <p:cNvPr id="2" name="Picture 1" descr="A person standing behind a desk with a computer&#10;&#10;AI-generated content may be incorrect.">
            <a:extLst>
              <a:ext uri="{FF2B5EF4-FFF2-40B4-BE49-F238E27FC236}">
                <a16:creationId xmlns:a16="http://schemas.microsoft.com/office/drawing/2014/main" id="{7131B053-7E58-C253-324A-0EB144B1C5C9}"/>
              </a:ext>
            </a:extLst>
          </p:cNvPr>
          <p:cNvPicPr>
            <a:picLocks noChangeAspect="1"/>
          </p:cNvPicPr>
          <p:nvPr/>
        </p:nvPicPr>
        <p:blipFill>
          <a:blip r:embed="rId3"/>
          <a:srcRect l="16320" r="12914" b="-2699"/>
          <a:stretch/>
        </p:blipFill>
        <p:spPr>
          <a:xfrm>
            <a:off x="7371304" y="0"/>
            <a:ext cx="4819957" cy="7043063"/>
          </a:xfrm>
          <a:prstGeom prst="rect">
            <a:avLst/>
          </a:prstGeom>
        </p:spPr>
      </p:pic>
    </p:spTree>
    <p:extLst>
      <p:ext uri="{BB962C8B-B14F-4D97-AF65-F5344CB8AC3E}">
        <p14:creationId xmlns:p14="http://schemas.microsoft.com/office/powerpoint/2010/main" val="3642202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2CFBD-B9F0-99FE-C1E3-F35433BC0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C984B-9AFA-0F92-B90A-88E897949345}"/>
              </a:ext>
            </a:extLst>
          </p:cNvPr>
          <p:cNvSpPr>
            <a:spLocks noGrp="1"/>
          </p:cNvSpPr>
          <p:nvPr>
            <p:ph type="title"/>
          </p:nvPr>
        </p:nvSpPr>
        <p:spPr>
          <a:xfrm>
            <a:off x="586365" y="291645"/>
            <a:ext cx="7805582" cy="855257"/>
          </a:xfrm>
        </p:spPr>
        <p:txBody>
          <a:bodyPr>
            <a:normAutofit/>
          </a:bodyPr>
          <a:lstStyle/>
          <a:p>
            <a:r>
              <a:rPr lang="en-US" sz="5000" dirty="0"/>
              <a:t>RAG to MCP</a:t>
            </a:r>
            <a:endParaRPr lang="en-US" dirty="0"/>
          </a:p>
        </p:txBody>
      </p:sp>
      <p:sp>
        <p:nvSpPr>
          <p:cNvPr id="5" name="Content Placeholder 4">
            <a:extLst>
              <a:ext uri="{FF2B5EF4-FFF2-40B4-BE49-F238E27FC236}">
                <a16:creationId xmlns:a16="http://schemas.microsoft.com/office/drawing/2014/main" id="{10B98E3B-44DF-BA19-078B-901E773E8801}"/>
              </a:ext>
            </a:extLst>
          </p:cNvPr>
          <p:cNvSpPr>
            <a:spLocks noGrp="1"/>
          </p:cNvSpPr>
          <p:nvPr>
            <p:ph idx="1"/>
          </p:nvPr>
        </p:nvSpPr>
        <p:spPr>
          <a:xfrm>
            <a:off x="612647" y="1178669"/>
            <a:ext cx="10653579" cy="5130691"/>
          </a:xfrm>
        </p:spPr>
        <p:txBody>
          <a:bodyPr vert="horz" lIns="91440" tIns="45720" rIns="91440" bIns="45720" rtlCol="0" anchor="t">
            <a:normAutofit fontScale="92500" lnSpcReduction="20000"/>
          </a:bodyPr>
          <a:lstStyle/>
          <a:p>
            <a:pPr marL="0" indent="0">
              <a:buNone/>
            </a:pPr>
            <a:r>
              <a:rPr lang="en-US" sz="2500" b="1" dirty="0"/>
              <a:t>Retrieval-Augmented Generation</a:t>
            </a:r>
          </a:p>
          <a:p>
            <a:pPr marL="0" indent="0">
              <a:buNone/>
            </a:pPr>
            <a:r>
              <a:rPr lang="en-US" sz="2500" dirty="0"/>
              <a:t>Store Data in Vector Database into chunks</a:t>
            </a:r>
          </a:p>
          <a:p>
            <a:pPr marL="0" indent="0">
              <a:buNone/>
            </a:pPr>
            <a:r>
              <a:rPr lang="en-US" sz="2500" dirty="0"/>
              <a:t>Retrieve relevant data based on user's prompt</a:t>
            </a:r>
          </a:p>
          <a:p>
            <a:pPr marL="0" indent="0">
              <a:buNone/>
            </a:pPr>
            <a:r>
              <a:rPr lang="en-US" sz="2500" dirty="0"/>
              <a:t>Pass the prompt along with the relevant data to the LLM to generate the response</a:t>
            </a:r>
          </a:p>
          <a:p>
            <a:pPr marL="0" indent="0">
              <a:buNone/>
            </a:pPr>
            <a:r>
              <a:rPr lang="en-US" sz="2500" b="1" dirty="0"/>
              <a:t>MCP</a:t>
            </a:r>
          </a:p>
          <a:p>
            <a:pPr marL="0" indent="0">
              <a:buNone/>
            </a:pPr>
            <a:r>
              <a:rPr lang="en-US" sz="2500" dirty="0"/>
              <a:t>Gets access to various sources of data in real time through tools.</a:t>
            </a:r>
          </a:p>
          <a:p>
            <a:pPr marL="0" indent="0">
              <a:buNone/>
            </a:pPr>
            <a:r>
              <a:rPr lang="en-US" sz="2500" dirty="0"/>
              <a:t>AI Agents can fetch the publicly available content from the internet related to the user's query, but cannot access the data from data sources.</a:t>
            </a:r>
          </a:p>
          <a:p>
            <a:pPr marL="0" indent="0">
              <a:buNone/>
            </a:pPr>
            <a:r>
              <a:rPr lang="en-US" sz="2500" dirty="0"/>
              <a:t>Possible to build the functionality without using MCP, but MCP standardize this logic.</a:t>
            </a:r>
          </a:p>
        </p:txBody>
      </p:sp>
    </p:spTree>
    <p:extLst>
      <p:ext uri="{BB962C8B-B14F-4D97-AF65-F5344CB8AC3E}">
        <p14:creationId xmlns:p14="http://schemas.microsoft.com/office/powerpoint/2010/main" val="1321080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1A063-19B9-9CA1-4BF2-CE2FDCE18F7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E96F01B-5BA0-9310-8BEE-56D72C290277}"/>
              </a:ext>
            </a:extLst>
          </p:cNvPr>
          <p:cNvPicPr>
            <a:picLocks noGrp="1" noChangeAspect="1"/>
          </p:cNvPicPr>
          <p:nvPr>
            <p:ph idx="1"/>
          </p:nvPr>
        </p:nvPicPr>
        <p:blipFill>
          <a:blip r:embed="rId3"/>
          <a:srcRect l="3531" t="4662" r="3741" b="4812"/>
          <a:stretch/>
        </p:blipFill>
        <p:spPr>
          <a:xfrm>
            <a:off x="2612081" y="214"/>
            <a:ext cx="9329484" cy="6862314"/>
          </a:xfrm>
        </p:spPr>
      </p:pic>
      <p:sp>
        <p:nvSpPr>
          <p:cNvPr id="2" name="Title 1">
            <a:extLst>
              <a:ext uri="{FF2B5EF4-FFF2-40B4-BE49-F238E27FC236}">
                <a16:creationId xmlns:a16="http://schemas.microsoft.com/office/drawing/2014/main" id="{A0606647-3A7A-BE1F-953F-DA51A35543A7}"/>
              </a:ext>
            </a:extLst>
          </p:cNvPr>
          <p:cNvSpPr>
            <a:spLocks noGrp="1"/>
          </p:cNvSpPr>
          <p:nvPr>
            <p:ph type="title"/>
          </p:nvPr>
        </p:nvSpPr>
        <p:spPr>
          <a:xfrm>
            <a:off x="250568" y="201238"/>
            <a:ext cx="4473656" cy="1978465"/>
          </a:xfrm>
        </p:spPr>
        <p:txBody>
          <a:bodyPr>
            <a:normAutofit fontScale="90000"/>
          </a:bodyPr>
          <a:lstStyle/>
          <a:p>
            <a:r>
              <a:rPr lang="en-US" sz="5000" dirty="0"/>
              <a:t>Model Context Protocol (MCP) Architecture</a:t>
            </a:r>
          </a:p>
        </p:txBody>
      </p:sp>
    </p:spTree>
    <p:extLst>
      <p:ext uri="{BB962C8B-B14F-4D97-AF65-F5344CB8AC3E}">
        <p14:creationId xmlns:p14="http://schemas.microsoft.com/office/powerpoint/2010/main" val="3254206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B30C1-DFE9-3D06-67CB-8C76ABBAD2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AE2FB-2E3F-DF68-3E36-DC8A1C8CAA27}"/>
              </a:ext>
            </a:extLst>
          </p:cNvPr>
          <p:cNvSpPr>
            <a:spLocks noGrp="1"/>
          </p:cNvSpPr>
          <p:nvPr>
            <p:ph type="title"/>
          </p:nvPr>
        </p:nvSpPr>
        <p:spPr>
          <a:xfrm>
            <a:off x="381981" y="3089189"/>
            <a:ext cx="3764295" cy="680702"/>
          </a:xfrm>
        </p:spPr>
        <p:txBody>
          <a:bodyPr>
            <a:noAutofit/>
          </a:bodyPr>
          <a:lstStyle/>
          <a:p>
            <a:r>
              <a:rPr lang="en-US" sz="5000" dirty="0"/>
              <a:t>Workflow</a:t>
            </a:r>
          </a:p>
        </p:txBody>
      </p:sp>
      <p:pic>
        <p:nvPicPr>
          <p:cNvPr id="9" name="Content Placeholder 8" descr="A diagram of a server&#10;&#10;AI-generated content may be incorrect.">
            <a:extLst>
              <a:ext uri="{FF2B5EF4-FFF2-40B4-BE49-F238E27FC236}">
                <a16:creationId xmlns:a16="http://schemas.microsoft.com/office/drawing/2014/main" id="{8795A352-0F4B-6913-09D6-3D7ECF7EA625}"/>
              </a:ext>
            </a:extLst>
          </p:cNvPr>
          <p:cNvPicPr>
            <a:picLocks noGrp="1" noChangeAspect="1"/>
          </p:cNvPicPr>
          <p:nvPr>
            <p:ph idx="1"/>
          </p:nvPr>
        </p:nvPicPr>
        <p:blipFill>
          <a:blip r:embed="rId3"/>
          <a:stretch>
            <a:fillRect/>
          </a:stretch>
        </p:blipFill>
        <p:spPr>
          <a:xfrm>
            <a:off x="4939764" y="-4383"/>
            <a:ext cx="7257146" cy="6858000"/>
          </a:xfrm>
        </p:spPr>
      </p:pic>
    </p:spTree>
    <p:extLst>
      <p:ext uri="{BB962C8B-B14F-4D97-AF65-F5344CB8AC3E}">
        <p14:creationId xmlns:p14="http://schemas.microsoft.com/office/powerpoint/2010/main" val="4155998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90073-E398-4B03-719B-2C62F5748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DCA59-DE1A-9E90-9ADE-4D113BE76C37}"/>
              </a:ext>
            </a:extLst>
          </p:cNvPr>
          <p:cNvSpPr>
            <a:spLocks noGrp="1"/>
          </p:cNvSpPr>
          <p:nvPr>
            <p:ph type="title"/>
          </p:nvPr>
        </p:nvSpPr>
        <p:spPr>
          <a:xfrm>
            <a:off x="612648" y="548640"/>
            <a:ext cx="7930384" cy="617394"/>
          </a:xfrm>
        </p:spPr>
        <p:txBody>
          <a:bodyPr>
            <a:noAutofit/>
          </a:bodyPr>
          <a:lstStyle/>
          <a:p>
            <a:r>
              <a:rPr lang="en-US" sz="5000" dirty="0"/>
              <a:t>Code and Demonstration</a:t>
            </a:r>
          </a:p>
        </p:txBody>
      </p:sp>
      <p:sp>
        <p:nvSpPr>
          <p:cNvPr id="3" name="Content Placeholder 2">
            <a:extLst>
              <a:ext uri="{FF2B5EF4-FFF2-40B4-BE49-F238E27FC236}">
                <a16:creationId xmlns:a16="http://schemas.microsoft.com/office/drawing/2014/main" id="{463F3C25-6415-FE76-BF6A-131893B40657}"/>
              </a:ext>
            </a:extLst>
          </p:cNvPr>
          <p:cNvSpPr>
            <a:spLocks noGrp="1"/>
          </p:cNvSpPr>
          <p:nvPr>
            <p:ph idx="1"/>
          </p:nvPr>
        </p:nvSpPr>
        <p:spPr>
          <a:xfrm>
            <a:off x="612647" y="1715532"/>
            <a:ext cx="4096261" cy="1231025"/>
          </a:xfrm>
        </p:spPr>
        <p:txBody>
          <a:bodyPr vert="horz" lIns="91440" tIns="45720" rIns="91440" bIns="45720" rtlCol="0" anchor="t">
            <a:noAutofit/>
          </a:bodyPr>
          <a:lstStyle/>
          <a:p>
            <a:r>
              <a:rPr lang="en-US" sz="2500" dirty="0"/>
              <a:t>Code Walkthrough</a:t>
            </a:r>
          </a:p>
          <a:p>
            <a:r>
              <a:rPr lang="en-US" sz="2500" dirty="0"/>
              <a:t>Project Demonstration</a:t>
            </a:r>
          </a:p>
        </p:txBody>
      </p:sp>
    </p:spTree>
    <p:extLst>
      <p:ext uri="{BB962C8B-B14F-4D97-AF65-F5344CB8AC3E}">
        <p14:creationId xmlns:p14="http://schemas.microsoft.com/office/powerpoint/2010/main" val="1374701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0DB4C-F73E-9721-CAB9-7D02CC1E4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67C00-0254-D8F2-995F-3F4940582070}"/>
              </a:ext>
            </a:extLst>
          </p:cNvPr>
          <p:cNvSpPr>
            <a:spLocks noGrp="1"/>
          </p:cNvSpPr>
          <p:nvPr>
            <p:ph type="title"/>
          </p:nvPr>
        </p:nvSpPr>
        <p:spPr>
          <a:xfrm>
            <a:off x="573902" y="496979"/>
            <a:ext cx="7424765" cy="938529"/>
          </a:xfrm>
        </p:spPr>
        <p:txBody>
          <a:bodyPr>
            <a:normAutofit/>
          </a:bodyPr>
          <a:lstStyle/>
          <a:p>
            <a:r>
              <a:rPr lang="en-US" sz="5000" dirty="0"/>
              <a:t>More Use Cases</a:t>
            </a:r>
          </a:p>
        </p:txBody>
      </p:sp>
      <p:sp>
        <p:nvSpPr>
          <p:cNvPr id="3" name="Content Placeholder 2">
            <a:extLst>
              <a:ext uri="{FF2B5EF4-FFF2-40B4-BE49-F238E27FC236}">
                <a16:creationId xmlns:a16="http://schemas.microsoft.com/office/drawing/2014/main" id="{D373E460-40D6-876C-15FF-E70D72812543}"/>
              </a:ext>
            </a:extLst>
          </p:cNvPr>
          <p:cNvSpPr>
            <a:spLocks noGrp="1"/>
          </p:cNvSpPr>
          <p:nvPr>
            <p:ph idx="1"/>
          </p:nvPr>
        </p:nvSpPr>
        <p:spPr/>
        <p:txBody>
          <a:bodyPr vert="horz" lIns="91440" tIns="45720" rIns="91440" bIns="45720" rtlCol="0" anchor="t">
            <a:normAutofit/>
          </a:bodyPr>
          <a:lstStyle/>
          <a:p>
            <a:pPr marL="0" indent="0">
              <a:buNone/>
            </a:pPr>
            <a:r>
              <a:rPr lang="en-US" sz="2500" dirty="0"/>
              <a:t>Companies launching their own MCP servers.</a:t>
            </a:r>
          </a:p>
          <a:p>
            <a:pPr marL="0" indent="0">
              <a:buNone/>
            </a:pPr>
            <a:r>
              <a:rPr lang="en-US" sz="2500" dirty="0"/>
              <a:t>AI Agents providing the facility to using your custom MCP server.</a:t>
            </a:r>
          </a:p>
        </p:txBody>
      </p:sp>
    </p:spTree>
    <p:extLst>
      <p:ext uri="{BB962C8B-B14F-4D97-AF65-F5344CB8AC3E}">
        <p14:creationId xmlns:p14="http://schemas.microsoft.com/office/powerpoint/2010/main" val="3581861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F9AA0-3B05-A850-099E-494791DB663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DD0587-64D0-B9EB-7E5E-6B22DDB224D7}"/>
              </a:ext>
            </a:extLst>
          </p:cNvPr>
          <p:cNvSpPr>
            <a:spLocks noGrp="1"/>
          </p:cNvSpPr>
          <p:nvPr>
            <p:ph type="title"/>
          </p:nvPr>
        </p:nvSpPr>
        <p:spPr>
          <a:xfrm>
            <a:off x="584372" y="496733"/>
            <a:ext cx="3870811" cy="697161"/>
          </a:xfrm>
        </p:spPr>
        <p:txBody>
          <a:bodyPr vert="horz" lIns="91440" tIns="45720" rIns="91440" bIns="45720" rtlCol="0" anchor="b">
            <a:noAutofit/>
          </a:bodyPr>
          <a:lstStyle/>
          <a:p>
            <a:r>
              <a:rPr lang="en-US" sz="5000" dirty="0"/>
              <a:t>Final Words</a:t>
            </a:r>
          </a:p>
        </p:txBody>
      </p:sp>
      <p:sp>
        <p:nvSpPr>
          <p:cNvPr id="3" name="Content Placeholder 2">
            <a:extLst>
              <a:ext uri="{FF2B5EF4-FFF2-40B4-BE49-F238E27FC236}">
                <a16:creationId xmlns:a16="http://schemas.microsoft.com/office/drawing/2014/main" id="{F6F4A0C1-033A-F728-4B03-C349C35D6529}"/>
              </a:ext>
            </a:extLst>
          </p:cNvPr>
          <p:cNvSpPr>
            <a:spLocks noGrp="1"/>
          </p:cNvSpPr>
          <p:nvPr>
            <p:ph idx="1"/>
          </p:nvPr>
        </p:nvSpPr>
        <p:spPr>
          <a:xfrm>
            <a:off x="579581" y="1273074"/>
            <a:ext cx="3870517" cy="1182230"/>
          </a:xfrm>
        </p:spPr>
        <p:txBody>
          <a:bodyPr vert="horz" lIns="91440" tIns="45720" rIns="91440" bIns="45720" rtlCol="0" anchor="t">
            <a:noAutofit/>
          </a:bodyPr>
          <a:lstStyle/>
          <a:p>
            <a:pPr marL="0" indent="0">
              <a:buNone/>
            </a:pPr>
            <a:r>
              <a:rPr lang="en-US" sz="2500" b="1" dirty="0"/>
              <a:t>#OpenToOpportunities</a:t>
            </a:r>
            <a:br>
              <a:rPr lang="en-US" sz="2500" dirty="0"/>
            </a:br>
            <a:r>
              <a:rPr lang="en-US" sz="2500" dirty="0"/>
              <a:t>Thank you for attending.</a:t>
            </a:r>
          </a:p>
        </p:txBody>
      </p:sp>
      <p:pic>
        <p:nvPicPr>
          <p:cNvPr id="5" name="Picture 4" descr="A qr code with black dots&#10;&#10;AI-generated content may be incorrect.">
            <a:extLst>
              <a:ext uri="{FF2B5EF4-FFF2-40B4-BE49-F238E27FC236}">
                <a16:creationId xmlns:a16="http://schemas.microsoft.com/office/drawing/2014/main" id="{282B8534-D98C-DC0E-F039-8063B02B7327}"/>
              </a:ext>
            </a:extLst>
          </p:cNvPr>
          <p:cNvPicPr>
            <a:picLocks noChangeAspect="1"/>
          </p:cNvPicPr>
          <p:nvPr/>
        </p:nvPicPr>
        <p:blipFill>
          <a:blip r:embed="rId3"/>
          <a:stretch>
            <a:fillRect/>
          </a:stretch>
        </p:blipFill>
        <p:spPr>
          <a:xfrm>
            <a:off x="5282046" y="0"/>
            <a:ext cx="6909954" cy="6858000"/>
          </a:xfrm>
          <a:prstGeom prst="rect">
            <a:avLst/>
          </a:prstGeom>
        </p:spPr>
      </p:pic>
    </p:spTree>
    <p:extLst>
      <p:ext uri="{BB962C8B-B14F-4D97-AF65-F5344CB8AC3E}">
        <p14:creationId xmlns:p14="http://schemas.microsoft.com/office/powerpoint/2010/main" val="2830393850"/>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C57F806-AC13-4C85-A6E4-E174E335F004}">
  <we:reference id="wa200005566" version="1.0.0.0" store="en-US" storeType="omex"/>
  <we:alternateReferences>
    <we:reference id="wa200005566" version="1.0.0.0" store="omex"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VanillaVTI</vt:lpstr>
      <vt:lpstr>Model Context Protocol</vt:lpstr>
      <vt:lpstr>PowerPoint Presentation</vt:lpstr>
      <vt:lpstr>RAG to MCP</vt:lpstr>
      <vt:lpstr>Model Context Protocol (MCP) Architecture</vt:lpstr>
      <vt:lpstr>Workflow</vt:lpstr>
      <vt:lpstr>Code and Demonstration</vt:lpstr>
      <vt:lpstr>More Use Cases</vt:lpstr>
      <vt:lpstr>Final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776</cp:revision>
  <dcterms:created xsi:type="dcterms:W3CDTF">2025-03-29T20:42:49Z</dcterms:created>
  <dcterms:modified xsi:type="dcterms:W3CDTF">2025-05-05T01:31:05Z</dcterms:modified>
</cp:coreProperties>
</file>